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3" autoAdjust="0"/>
    <p:restoredTop sz="94660"/>
  </p:normalViewPr>
  <p:slideViewPr>
    <p:cSldViewPr snapToGrid="0">
      <p:cViewPr varScale="1">
        <p:scale>
          <a:sx n="79" d="100"/>
          <a:sy n="79" d="100"/>
        </p:scale>
        <p:origin x="61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o-RO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E9462EF3-3C4F-43EE-ACEE-D4B806740EA3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0EF2-9919-473B-8215-8616BAF10692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472EB-AC54-4713-BFC2-BEB621108C63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5A0C-791E-4545-B787-F98AD45CD761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36B77-F4F4-4427-AC4F-9A623798AD82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790C-34EB-4565-8437-CACF4CDB7822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4C11-22B8-4A4E-8126-B3AF6B948A8E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06B6-C816-4861-964D-15A98395707D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1A8AB-EA7C-4B1B-9D73-E2551851FABE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43B39-165A-4B68-AA5C-581F5336313C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8C57-33F9-4259-AC4F-0E3F5BEC9B94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ro-RO"/>
              <a:t>Faceţi clic pentru a edita Master stiluri text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772B-8FA2-401F-A0A1-A59855EDBC3E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5BDE-5A90-4611-82E9-0FC5746D30C5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A17D-0BEA-4E76-A7FC-F7C188BC48D1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ană cu trei i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AC7D-18CA-4236-82B9-D75EB1D66EAE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300E-C023-45CD-A0BE-EDB7A8C6EA8B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0EAD-E369-4933-8469-ED7764B56A1B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o-RO"/>
            </a:p>
          </p:txBody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o-RO"/>
            </a:p>
          </p:txBody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ro-RO"/>
            </a:p>
          </p:txBody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0786BE5-D2A3-4BF0-8B30-D7403E61B3DC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B49B450-7367-D878-21D9-403ED2CD85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o-RO" i="1" dirty="0"/>
              <a:t>PROIECT</a:t>
            </a:r>
            <a:br>
              <a:rPr lang="ro-RO" i="1" dirty="0"/>
            </a:br>
            <a:r>
              <a:rPr lang="ro-RO" i="1" dirty="0"/>
              <a:t>Software pentru </a:t>
            </a:r>
            <a:r>
              <a:rPr lang="ro-RO" i="1" dirty="0" err="1"/>
              <a:t>telecomunicatii</a:t>
            </a:r>
            <a:br>
              <a:rPr lang="ro-RO" i="1" dirty="0"/>
            </a:br>
            <a:r>
              <a:rPr lang="ro-RO" i="1" dirty="0" err="1"/>
              <a:t>Aplicatie</a:t>
            </a:r>
            <a:r>
              <a:rPr lang="ro-RO" i="1" dirty="0"/>
              <a:t> </a:t>
            </a:r>
            <a:r>
              <a:rPr lang="ro-RO" i="1" dirty="0" err="1"/>
              <a:t>vanzare</a:t>
            </a:r>
            <a:r>
              <a:rPr lang="ro-RO" i="1" dirty="0"/>
              <a:t> dulciuri </a:t>
            </a:r>
            <a:r>
              <a:rPr lang="ro-RO" i="1" dirty="0" err="1"/>
              <a:t>eCommerce</a:t>
            </a:r>
            <a:endParaRPr lang="ro-RO" i="1" dirty="0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72975F36-FE5C-414E-93FB-B94FED1A9A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ro-RO" sz="1200" b="1" dirty="0"/>
              <a:t>Nechifor </a:t>
            </a:r>
            <a:r>
              <a:rPr lang="ro-RO" sz="1200" b="1" dirty="0" err="1"/>
              <a:t>cristina</a:t>
            </a:r>
            <a:r>
              <a:rPr lang="ro-RO" sz="1200" b="1" dirty="0"/>
              <a:t> </a:t>
            </a:r>
            <a:r>
              <a:rPr lang="ro-RO" sz="1200" b="1" dirty="0" err="1"/>
              <a:t>claudia</a:t>
            </a:r>
            <a:endParaRPr lang="ro-RO" sz="1200" b="1" dirty="0"/>
          </a:p>
          <a:p>
            <a:r>
              <a:rPr lang="ro-RO" sz="1200" b="1" dirty="0"/>
              <a:t>Munteanu </a:t>
            </a:r>
            <a:r>
              <a:rPr lang="ro-RO" sz="1200" b="1" dirty="0" err="1"/>
              <a:t>daniel</a:t>
            </a:r>
            <a:r>
              <a:rPr lang="ro-RO" sz="1200" b="1" dirty="0"/>
              <a:t> </a:t>
            </a:r>
            <a:r>
              <a:rPr lang="ro-RO" sz="1200" b="1" dirty="0" err="1"/>
              <a:t>ioachim</a:t>
            </a:r>
            <a:endParaRPr lang="ro-RO" sz="1200" b="1" dirty="0"/>
          </a:p>
          <a:p>
            <a:r>
              <a:rPr lang="ro-RO" sz="1200" b="1" dirty="0"/>
              <a:t>Corbu </a:t>
            </a:r>
            <a:r>
              <a:rPr lang="ro-RO" sz="1200" b="1" dirty="0" err="1"/>
              <a:t>alexandru</a:t>
            </a:r>
            <a:endParaRPr lang="ro-RO" sz="1200" b="1" dirty="0"/>
          </a:p>
          <a:p>
            <a:r>
              <a:rPr lang="ro-RO" sz="1200" b="1" dirty="0"/>
              <a:t>Stoian dana </a:t>
            </a:r>
            <a:r>
              <a:rPr lang="ro-RO" sz="1200" b="1" dirty="0" err="1"/>
              <a:t>alexandra</a:t>
            </a:r>
            <a:endParaRPr lang="en-150" sz="1200" b="1" dirty="0"/>
          </a:p>
          <a:p>
            <a:r>
              <a:rPr lang="en-150" sz="1200" b="1" dirty="0"/>
              <a:t>PAUNA RAZVAN</a:t>
            </a:r>
            <a:endParaRPr lang="ro-RO" sz="1200" b="1" dirty="0"/>
          </a:p>
        </p:txBody>
      </p:sp>
    </p:spTree>
    <p:extLst>
      <p:ext uri="{BB962C8B-B14F-4D97-AF65-F5344CB8AC3E}">
        <p14:creationId xmlns:p14="http://schemas.microsoft.com/office/powerpoint/2010/main" val="1367159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7FCF1AA-6598-62D6-D664-1EF3F7BD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CUPRINS</a:t>
            </a: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F498500B-F183-B66D-3178-C5ADA0A77EC1}"/>
              </a:ext>
            </a:extLst>
          </p:cNvPr>
          <p:cNvSpPr txBox="1"/>
          <p:nvPr/>
        </p:nvSpPr>
        <p:spPr>
          <a:xfrm>
            <a:off x="1152144" y="2726266"/>
            <a:ext cx="72362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Alegerea si descrierea modului de dezvoltare software</a:t>
            </a:r>
          </a:p>
          <a:p>
            <a:r>
              <a:rPr lang="ro-RO" dirty="0"/>
              <a:t>Desemnare si descriere roluri si </a:t>
            </a:r>
            <a:r>
              <a:rPr lang="ro-RO" dirty="0" err="1"/>
              <a:t>responsabilitati</a:t>
            </a:r>
            <a:r>
              <a:rPr lang="ro-RO" dirty="0"/>
              <a:t> in cadrul echipei</a:t>
            </a:r>
          </a:p>
          <a:p>
            <a:r>
              <a:rPr lang="ro-RO" dirty="0"/>
              <a:t>Structura bazei de date</a:t>
            </a:r>
          </a:p>
          <a:p>
            <a:r>
              <a:rPr lang="ro-RO" dirty="0"/>
              <a:t>Modelarea arhitecturii sistemului </a:t>
            </a:r>
          </a:p>
          <a:p>
            <a:r>
              <a:rPr lang="ro-RO" dirty="0"/>
              <a:t>	- Diagrama de clasa</a:t>
            </a:r>
          </a:p>
          <a:p>
            <a:r>
              <a:rPr lang="ro-RO" dirty="0"/>
              <a:t>	- </a:t>
            </a:r>
            <a:r>
              <a:rPr lang="ro-RO" dirty="0" err="1"/>
              <a:t>Use</a:t>
            </a:r>
            <a:r>
              <a:rPr lang="ro-RO" dirty="0"/>
              <a:t> Case </a:t>
            </a:r>
            <a:r>
              <a:rPr lang="ro-RO" dirty="0" err="1"/>
              <a:t>Diagram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5701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D681CBE-C50E-0F1A-069A-5C7B271C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Alegerea si descrierea modului de dezvoltare software</a:t>
            </a:r>
            <a:br>
              <a:rPr lang="ro-RO" dirty="0"/>
            </a:br>
            <a:endParaRPr lang="ro-RO" dirty="0"/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79870036-CC0A-875A-1CB5-D2BB06F799F7}"/>
              </a:ext>
            </a:extLst>
          </p:cNvPr>
          <p:cNvSpPr txBox="1"/>
          <p:nvPr/>
        </p:nvSpPr>
        <p:spPr>
          <a:xfrm>
            <a:off x="694267" y="2743200"/>
            <a:ext cx="1120370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Vom utiliza principii SSME si metode de automatizare, dezvoltare si instalare a </a:t>
            </a:r>
            <a:r>
              <a:rPr lang="ro-RO" dirty="0" err="1"/>
              <a:t>securitatii</a:t>
            </a:r>
            <a:r>
              <a:rPr lang="ro-RO" dirty="0"/>
              <a:t> sistemelor </a:t>
            </a:r>
          </a:p>
          <a:p>
            <a:r>
              <a:rPr lang="ro-RO" dirty="0" err="1"/>
              <a:t>creand</a:t>
            </a:r>
            <a:r>
              <a:rPr lang="ro-RO" dirty="0"/>
              <a:t> astfel o </a:t>
            </a:r>
            <a:r>
              <a:rPr lang="ro-RO" dirty="0" err="1"/>
              <a:t>aplicatie</a:t>
            </a:r>
            <a:r>
              <a:rPr lang="ro-RO" dirty="0"/>
              <a:t> specializata pe </a:t>
            </a:r>
            <a:r>
              <a:rPr lang="ro-RO" dirty="0" err="1"/>
              <a:t>comertul</a:t>
            </a:r>
            <a:r>
              <a:rPr lang="ro-RO" dirty="0"/>
              <a:t> online de dulciuri.</a:t>
            </a:r>
          </a:p>
          <a:p>
            <a:r>
              <a:rPr lang="ro-RO" dirty="0"/>
              <a:t>Vom demonstra cum putem plasa o comanda, cum putem sa navigam printre diferitele produse </a:t>
            </a:r>
          </a:p>
          <a:p>
            <a:r>
              <a:rPr lang="ro-RO" dirty="0"/>
              <a:t>puse la </a:t>
            </a:r>
            <a:r>
              <a:rPr lang="ro-RO" dirty="0" err="1"/>
              <a:t>dispozitie</a:t>
            </a:r>
            <a:r>
              <a:rPr lang="ro-RO" dirty="0"/>
              <a:t> si cum putem crea un cont pentru a avea parte de toate beneficiile disponibile.</a:t>
            </a:r>
          </a:p>
          <a:p>
            <a:r>
              <a:rPr lang="ro-RO" dirty="0"/>
              <a:t>Utilizam </a:t>
            </a:r>
            <a:r>
              <a:rPr lang="ro-RO" dirty="0" err="1"/>
              <a:t>spring</a:t>
            </a:r>
            <a:r>
              <a:rPr lang="ro-RO" dirty="0"/>
              <a:t> boot care </a:t>
            </a:r>
            <a:r>
              <a:rPr lang="ro-RO" dirty="0" err="1"/>
              <a:t>urmeaza</a:t>
            </a:r>
            <a:r>
              <a:rPr lang="ro-RO" dirty="0"/>
              <a:t> o arhitectura stratificata in care fiecare strat comunica cu alte </a:t>
            </a:r>
          </a:p>
          <a:p>
            <a:r>
              <a:rPr lang="ro-RO" dirty="0"/>
              <a:t>straturi.</a:t>
            </a:r>
          </a:p>
          <a:p>
            <a:r>
              <a:rPr lang="ro-RO" dirty="0"/>
              <a:t>Vom folosi AGILE care consta </a:t>
            </a:r>
            <a:r>
              <a:rPr lang="ro-RO" dirty="0" err="1"/>
              <a:t>intr</a:t>
            </a:r>
            <a:r>
              <a:rPr lang="ro-RO" dirty="0"/>
              <a:t>-un mod de lucru in echipa care aduce </a:t>
            </a:r>
            <a:r>
              <a:rPr lang="ro-RO" dirty="0" err="1"/>
              <a:t>intr</a:t>
            </a:r>
            <a:r>
              <a:rPr lang="ro-RO" dirty="0"/>
              <a:t>-un timp scurt </a:t>
            </a:r>
            <a:r>
              <a:rPr lang="ro-RO" dirty="0" err="1"/>
              <a:t>solutii</a:t>
            </a:r>
            <a:endParaRPr lang="ro-RO" dirty="0"/>
          </a:p>
          <a:p>
            <a:r>
              <a:rPr lang="ro-RO" dirty="0"/>
              <a:t>De dezvoltare software si </a:t>
            </a:r>
            <a:r>
              <a:rPr lang="ro-RO" dirty="0" err="1"/>
              <a:t>sustine</a:t>
            </a:r>
            <a:r>
              <a:rPr lang="ro-RO" dirty="0"/>
              <a:t> livrarea din timp a produsului final, </a:t>
            </a:r>
            <a:r>
              <a:rPr lang="ro-RO" dirty="0" err="1"/>
              <a:t>avand</a:t>
            </a:r>
            <a:r>
              <a:rPr lang="ro-RO" dirty="0"/>
              <a:t> dezvoltare continua,</a:t>
            </a:r>
          </a:p>
          <a:p>
            <a:r>
              <a:rPr lang="ro-RO" dirty="0"/>
              <a:t>Planificare adaptiva si flexibilitate privind </a:t>
            </a:r>
            <a:r>
              <a:rPr lang="ro-RO" dirty="0" err="1"/>
              <a:t>raspunsul</a:t>
            </a:r>
            <a:r>
              <a:rPr lang="ro-RO" dirty="0"/>
              <a:t> la </a:t>
            </a:r>
            <a:r>
              <a:rPr lang="ro-RO" dirty="0" err="1"/>
              <a:t>schimbari</a:t>
            </a:r>
            <a:r>
              <a:rPr lang="ro-RO" dirty="0"/>
              <a:t>. </a:t>
            </a:r>
            <a:r>
              <a:rPr lang="ro-RO" dirty="0" err="1"/>
              <a:t>Totodata</a:t>
            </a:r>
            <a:r>
              <a:rPr lang="ro-RO" dirty="0"/>
              <a:t>, feedback-</a:t>
            </a:r>
            <a:r>
              <a:rPr lang="ro-RO" dirty="0" err="1"/>
              <a:t>ul</a:t>
            </a:r>
            <a:r>
              <a:rPr lang="ro-RO" dirty="0"/>
              <a:t> de la client</a:t>
            </a:r>
          </a:p>
          <a:p>
            <a:r>
              <a:rPr lang="ro-RO" dirty="0"/>
              <a:t>Este colectat si implementat </a:t>
            </a:r>
            <a:r>
              <a:rPr lang="ro-RO" dirty="0" err="1"/>
              <a:t>intr</a:t>
            </a:r>
            <a:r>
              <a:rPr lang="ro-RO" dirty="0"/>
              <a:t>-un mod continuu.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885290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78DAAE-B0C3-49A3-8AB1-AD2FF0E36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A8A81D-3338-4B0F-A26F-A3D259D2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155665-7CE2-4939-AE5E-020DC1D20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935538CE-228F-AB25-29ED-BBF41B23E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644" y="1284394"/>
            <a:ext cx="4549881" cy="428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65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969D688-06B8-3781-5C30-69EEE0F9E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Desemnare si descriere roluri si </a:t>
            </a:r>
            <a:r>
              <a:rPr lang="ro-RO" dirty="0" err="1"/>
              <a:t>responsabilitati</a:t>
            </a:r>
            <a:r>
              <a:rPr lang="ro-RO" dirty="0"/>
              <a:t> in cadrul echipei</a:t>
            </a:r>
            <a:br>
              <a:rPr lang="ro-RO" dirty="0"/>
            </a:br>
            <a:endParaRPr lang="ro-RO" dirty="0"/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76944274-A0F2-C5EB-EFFD-CFE09373B7F4}"/>
              </a:ext>
            </a:extLst>
          </p:cNvPr>
          <p:cNvSpPr txBox="1"/>
          <p:nvPr/>
        </p:nvSpPr>
        <p:spPr>
          <a:xfrm>
            <a:off x="931333" y="2726267"/>
            <a:ext cx="1079654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/>
              <a:t>Nechifor Cristina Claudia </a:t>
            </a:r>
            <a:r>
              <a:rPr lang="ro-RO" dirty="0"/>
              <a:t>– implementare metode CRUD</a:t>
            </a:r>
            <a:r>
              <a:rPr lang="en-150" dirty="0"/>
              <a:t>, front-end</a:t>
            </a:r>
          </a:p>
          <a:p>
            <a:endParaRPr lang="en-150" dirty="0"/>
          </a:p>
          <a:p>
            <a:r>
              <a:rPr lang="en-150" b="1" dirty="0"/>
              <a:t>Pauna Razvan </a:t>
            </a:r>
            <a:r>
              <a:rPr lang="en-150" dirty="0"/>
              <a:t>– </a:t>
            </a:r>
            <a:r>
              <a:rPr lang="en-150" dirty="0" err="1"/>
              <a:t>testare</a:t>
            </a:r>
            <a:r>
              <a:rPr lang="en-150" dirty="0"/>
              <a:t> REST</a:t>
            </a:r>
            <a:r>
              <a:rPr lang="en-150"/>
              <a:t>, back-end</a:t>
            </a:r>
            <a:endParaRPr lang="en-150" dirty="0"/>
          </a:p>
          <a:p>
            <a:endParaRPr lang="ro-RO" dirty="0"/>
          </a:p>
          <a:p>
            <a:r>
              <a:rPr lang="ro-RO" b="1" dirty="0"/>
              <a:t>Munteanu Daniel Ioachim </a:t>
            </a:r>
            <a:r>
              <a:rPr lang="ro-RO" dirty="0"/>
              <a:t>– implementare arhitectura si </a:t>
            </a:r>
            <a:r>
              <a:rPr lang="ro-RO" dirty="0" err="1"/>
              <a:t>spring</a:t>
            </a:r>
            <a:r>
              <a:rPr lang="ro-RO" dirty="0"/>
              <a:t> </a:t>
            </a:r>
            <a:r>
              <a:rPr lang="ro-RO" dirty="0" err="1"/>
              <a:t>security</a:t>
            </a:r>
            <a:r>
              <a:rPr lang="ro-RO" dirty="0"/>
              <a:t>, containerizare </a:t>
            </a:r>
            <a:r>
              <a:rPr lang="ro-RO" dirty="0" err="1"/>
              <a:t>Doacker</a:t>
            </a:r>
            <a:endParaRPr lang="en-150" dirty="0"/>
          </a:p>
          <a:p>
            <a:endParaRPr lang="ro-RO" dirty="0"/>
          </a:p>
          <a:p>
            <a:r>
              <a:rPr lang="ro-RO" b="1" dirty="0"/>
              <a:t>Corbu Alexandru </a:t>
            </a:r>
            <a:r>
              <a:rPr lang="ro-RO" dirty="0"/>
              <a:t>– </a:t>
            </a:r>
            <a:r>
              <a:rPr lang="ro-RO" dirty="0" err="1"/>
              <a:t>Deployment</a:t>
            </a:r>
            <a:r>
              <a:rPr lang="ro-RO" dirty="0"/>
              <a:t> in </a:t>
            </a:r>
            <a:r>
              <a:rPr lang="ro-RO" dirty="0" err="1"/>
              <a:t>cloud</a:t>
            </a:r>
            <a:r>
              <a:rPr lang="ro-RO" dirty="0"/>
              <a:t>, design baza de date</a:t>
            </a:r>
            <a:endParaRPr lang="en-150" dirty="0"/>
          </a:p>
          <a:p>
            <a:endParaRPr lang="ro-RO" dirty="0"/>
          </a:p>
          <a:p>
            <a:r>
              <a:rPr lang="ro-RO" b="1" dirty="0"/>
              <a:t>Stoian Dana Alexandra </a:t>
            </a:r>
            <a:r>
              <a:rPr lang="ro-RO" dirty="0"/>
              <a:t>– design UML, </a:t>
            </a:r>
            <a:r>
              <a:rPr lang="ro-RO" dirty="0" err="1"/>
              <a:t>UseCase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0247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AA8664E-9565-2999-9954-C57386FEA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Structura bazei de date</a:t>
            </a:r>
            <a:br>
              <a:rPr lang="ro-RO" dirty="0"/>
            </a:br>
            <a:endParaRPr lang="ro-RO" dirty="0"/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FF7AD372-2147-E0B6-4B7E-091113F6F6B0}"/>
              </a:ext>
            </a:extLst>
          </p:cNvPr>
          <p:cNvSpPr txBox="1"/>
          <p:nvPr/>
        </p:nvSpPr>
        <p:spPr>
          <a:xfrm>
            <a:off x="846667" y="2929467"/>
            <a:ext cx="6272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Tabele</a:t>
            </a:r>
            <a:r>
              <a:rPr lang="en-150" dirty="0"/>
              <a:t>: </a:t>
            </a:r>
            <a:r>
              <a:rPr lang="en-150" dirty="0" err="1"/>
              <a:t>Categorii</a:t>
            </a:r>
            <a:r>
              <a:rPr lang="en-150" dirty="0"/>
              <a:t>, </a:t>
            </a:r>
            <a:r>
              <a:rPr lang="en-150" dirty="0" err="1"/>
              <a:t>Produse</a:t>
            </a:r>
            <a:r>
              <a:rPr lang="en-150" dirty="0"/>
              <a:t>, </a:t>
            </a:r>
            <a:r>
              <a:rPr lang="en-150" dirty="0" err="1"/>
              <a:t>Comenzi</a:t>
            </a:r>
            <a:r>
              <a:rPr lang="en-150" dirty="0"/>
              <a:t>, </a:t>
            </a:r>
            <a:r>
              <a:rPr lang="en-150" dirty="0" err="1"/>
              <a:t>Adrese</a:t>
            </a:r>
            <a:r>
              <a:rPr lang="en-150" dirty="0"/>
              <a:t>, </a:t>
            </a:r>
            <a:r>
              <a:rPr lang="en-150" dirty="0" err="1"/>
              <a:t>Utilizatori</a:t>
            </a:r>
            <a:endParaRPr lang="en-150" dirty="0"/>
          </a:p>
          <a:p>
            <a:r>
              <a:rPr lang="en-150" dirty="0" err="1"/>
              <a:t>Relatii</a:t>
            </a:r>
            <a:r>
              <a:rPr lang="en-150" dirty="0"/>
              <a:t> </a:t>
            </a:r>
            <a:r>
              <a:rPr lang="en-150" dirty="0" err="1"/>
              <a:t>folosite</a:t>
            </a:r>
            <a:r>
              <a:rPr lang="en-150" dirty="0"/>
              <a:t>: One to many, Many to one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632123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669759D-2B2A-3C34-1753-B08CBDFCA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Modelarea arhitecturii sistemului </a:t>
            </a:r>
            <a:br>
              <a:rPr lang="ro-RO" dirty="0"/>
            </a:br>
            <a:r>
              <a:rPr lang="ro-RO" dirty="0"/>
              <a:t>	- Diagrama de clasa</a:t>
            </a:r>
            <a:br>
              <a:rPr lang="ro-RO" dirty="0"/>
            </a:br>
            <a:r>
              <a:rPr lang="ro-RO" dirty="0"/>
              <a:t>	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3B70F8CC-4B47-DDBF-64C8-1DB31E1E1374}"/>
              </a:ext>
            </a:extLst>
          </p:cNvPr>
          <p:cNvSpPr/>
          <p:nvPr/>
        </p:nvSpPr>
        <p:spPr>
          <a:xfrm>
            <a:off x="728133" y="2624667"/>
            <a:ext cx="2201334" cy="304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5" name="Dreptunghi 4">
            <a:extLst>
              <a:ext uri="{FF2B5EF4-FFF2-40B4-BE49-F238E27FC236}">
                <a16:creationId xmlns:a16="http://schemas.microsoft.com/office/drawing/2014/main" id="{7AC2491B-4968-F488-AE6C-4E3A630ECFF0}"/>
              </a:ext>
            </a:extLst>
          </p:cNvPr>
          <p:cNvSpPr/>
          <p:nvPr/>
        </p:nvSpPr>
        <p:spPr>
          <a:xfrm>
            <a:off x="3234267" y="2624667"/>
            <a:ext cx="2201334" cy="304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6" name="CasetăText 5">
            <a:extLst>
              <a:ext uri="{FF2B5EF4-FFF2-40B4-BE49-F238E27FC236}">
                <a16:creationId xmlns:a16="http://schemas.microsoft.com/office/drawing/2014/main" id="{CE338D9C-515F-85C9-2FAE-40DD0B7888EA}"/>
              </a:ext>
            </a:extLst>
          </p:cNvPr>
          <p:cNvSpPr txBox="1"/>
          <p:nvPr/>
        </p:nvSpPr>
        <p:spPr>
          <a:xfrm>
            <a:off x="863600" y="2878667"/>
            <a:ext cx="19473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150" dirty="0"/>
              <a:t>PRODUSE</a:t>
            </a:r>
          </a:p>
          <a:p>
            <a:r>
              <a:rPr lang="en-150" dirty="0"/>
              <a:t>-----------------------</a:t>
            </a:r>
          </a:p>
          <a:p>
            <a:r>
              <a:rPr lang="en-150" dirty="0"/>
              <a:t>ID_PRODUS: INT</a:t>
            </a:r>
          </a:p>
          <a:p>
            <a:r>
              <a:rPr lang="en-150" dirty="0"/>
              <a:t>NUME: STRING</a:t>
            </a:r>
          </a:p>
          <a:p>
            <a:r>
              <a:rPr lang="en-150" dirty="0"/>
              <a:t>DESCRIERE: STRING</a:t>
            </a:r>
          </a:p>
          <a:p>
            <a:r>
              <a:rPr lang="en-150" dirty="0"/>
              <a:t>PRET: INT</a:t>
            </a:r>
          </a:p>
          <a:p>
            <a:endParaRPr lang="en-150" dirty="0"/>
          </a:p>
        </p:txBody>
      </p:sp>
      <p:sp>
        <p:nvSpPr>
          <p:cNvPr id="8" name="CasetăText 7">
            <a:extLst>
              <a:ext uri="{FF2B5EF4-FFF2-40B4-BE49-F238E27FC236}">
                <a16:creationId xmlns:a16="http://schemas.microsoft.com/office/drawing/2014/main" id="{8B24FC34-87D9-9EEF-1F9D-1110325F4B0A}"/>
              </a:ext>
            </a:extLst>
          </p:cNvPr>
          <p:cNvSpPr txBox="1"/>
          <p:nvPr/>
        </p:nvSpPr>
        <p:spPr>
          <a:xfrm>
            <a:off x="3437467" y="2878667"/>
            <a:ext cx="17441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150" dirty="0"/>
              <a:t>CATEGORII</a:t>
            </a:r>
          </a:p>
          <a:p>
            <a:r>
              <a:rPr lang="en-150" dirty="0"/>
              <a:t>--------------------</a:t>
            </a:r>
          </a:p>
          <a:p>
            <a:r>
              <a:rPr lang="en-150" dirty="0"/>
              <a:t>ID_CAT: INT</a:t>
            </a:r>
          </a:p>
          <a:p>
            <a:r>
              <a:rPr lang="en-150" dirty="0"/>
              <a:t>NUME: STRING</a:t>
            </a:r>
            <a:endParaRPr lang="ro-RO" dirty="0"/>
          </a:p>
        </p:txBody>
      </p:sp>
      <p:cxnSp>
        <p:nvCxnSpPr>
          <p:cNvPr id="10" name="Conector drept cu săgeată 9">
            <a:extLst>
              <a:ext uri="{FF2B5EF4-FFF2-40B4-BE49-F238E27FC236}">
                <a16:creationId xmlns:a16="http://schemas.microsoft.com/office/drawing/2014/main" id="{94DF9E39-87D0-1762-8B5E-11751C1B2650}"/>
              </a:ext>
            </a:extLst>
          </p:cNvPr>
          <p:cNvCxnSpPr>
            <a:stCxn id="5" idx="1"/>
            <a:endCxn id="3" idx="3"/>
          </p:cNvCxnSpPr>
          <p:nvPr/>
        </p:nvCxnSpPr>
        <p:spPr>
          <a:xfrm flipH="1">
            <a:off x="2929467" y="4148667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reptunghi 11">
            <a:extLst>
              <a:ext uri="{FF2B5EF4-FFF2-40B4-BE49-F238E27FC236}">
                <a16:creationId xmlns:a16="http://schemas.microsoft.com/office/drawing/2014/main" id="{5A384485-DA78-073B-72B9-4B5BABFB1E19}"/>
              </a:ext>
            </a:extLst>
          </p:cNvPr>
          <p:cNvSpPr/>
          <p:nvPr/>
        </p:nvSpPr>
        <p:spPr>
          <a:xfrm>
            <a:off x="5858933" y="2682579"/>
            <a:ext cx="2675467" cy="1524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203429E5-FE67-2A17-B050-741384C0AF86}"/>
              </a:ext>
            </a:extLst>
          </p:cNvPr>
          <p:cNvSpPr/>
          <p:nvPr/>
        </p:nvSpPr>
        <p:spPr>
          <a:xfrm>
            <a:off x="5875866" y="4282070"/>
            <a:ext cx="2675467" cy="13377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14" name="Dreptunghi 13">
            <a:extLst>
              <a:ext uri="{FF2B5EF4-FFF2-40B4-BE49-F238E27FC236}">
                <a16:creationId xmlns:a16="http://schemas.microsoft.com/office/drawing/2014/main" id="{1D028BFA-EDD5-0A42-3F22-D3A521EAA0E7}"/>
              </a:ext>
            </a:extLst>
          </p:cNvPr>
          <p:cNvSpPr/>
          <p:nvPr/>
        </p:nvSpPr>
        <p:spPr>
          <a:xfrm>
            <a:off x="9144000" y="2624667"/>
            <a:ext cx="2675467" cy="304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150" dirty="0"/>
              <a:t>USER</a:t>
            </a:r>
          </a:p>
          <a:p>
            <a:pPr algn="ctr"/>
            <a:r>
              <a:rPr lang="en-150" dirty="0"/>
              <a:t>--------------------------------</a:t>
            </a:r>
          </a:p>
          <a:p>
            <a:pPr algn="ctr"/>
            <a:r>
              <a:rPr lang="en-150" dirty="0"/>
              <a:t>ID: INT</a:t>
            </a:r>
          </a:p>
          <a:p>
            <a:pPr algn="ctr"/>
            <a:r>
              <a:rPr lang="en-150" dirty="0"/>
              <a:t>EMAIL: STRING</a:t>
            </a:r>
          </a:p>
          <a:p>
            <a:pPr algn="ctr"/>
            <a:r>
              <a:rPr lang="en-150" dirty="0"/>
              <a:t>PAROLA: STRING</a:t>
            </a:r>
          </a:p>
          <a:p>
            <a:pPr algn="ctr"/>
            <a:r>
              <a:rPr lang="en-150" dirty="0"/>
              <a:t>TELEFON: STRING</a:t>
            </a:r>
            <a:endParaRPr lang="ro-RO" dirty="0"/>
          </a:p>
        </p:txBody>
      </p:sp>
      <p:sp>
        <p:nvSpPr>
          <p:cNvPr id="16" name="CasetăText 15">
            <a:extLst>
              <a:ext uri="{FF2B5EF4-FFF2-40B4-BE49-F238E27FC236}">
                <a16:creationId xmlns:a16="http://schemas.microsoft.com/office/drawing/2014/main" id="{1812C8DD-941D-B712-7540-8E5B304EDFD3}"/>
              </a:ext>
            </a:extLst>
          </p:cNvPr>
          <p:cNvSpPr txBox="1"/>
          <p:nvPr/>
        </p:nvSpPr>
        <p:spPr>
          <a:xfrm>
            <a:off x="5918199" y="2675467"/>
            <a:ext cx="25569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150" dirty="0"/>
              <a:t>COMENZI</a:t>
            </a:r>
          </a:p>
          <a:p>
            <a:r>
              <a:rPr lang="en-150" dirty="0"/>
              <a:t>------------------------------</a:t>
            </a:r>
          </a:p>
          <a:p>
            <a:r>
              <a:rPr lang="en-150" dirty="0"/>
              <a:t>ID_ORD: INT</a:t>
            </a:r>
          </a:p>
          <a:p>
            <a:r>
              <a:rPr lang="en-150" dirty="0"/>
              <a:t>CANTITATE: INT</a:t>
            </a:r>
          </a:p>
          <a:p>
            <a:r>
              <a:rPr lang="en-150" dirty="0"/>
              <a:t>STATUS: STRING</a:t>
            </a:r>
          </a:p>
        </p:txBody>
      </p:sp>
      <p:sp>
        <p:nvSpPr>
          <p:cNvPr id="17" name="CasetăText 16">
            <a:extLst>
              <a:ext uri="{FF2B5EF4-FFF2-40B4-BE49-F238E27FC236}">
                <a16:creationId xmlns:a16="http://schemas.microsoft.com/office/drawing/2014/main" id="{AA72BAB9-62E8-AE97-4851-DA10DFDE5080}"/>
              </a:ext>
            </a:extLst>
          </p:cNvPr>
          <p:cNvSpPr txBox="1"/>
          <p:nvPr/>
        </p:nvSpPr>
        <p:spPr>
          <a:xfrm>
            <a:off x="5875866" y="4265136"/>
            <a:ext cx="240001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150" dirty="0"/>
              <a:t>ADRESE</a:t>
            </a:r>
          </a:p>
          <a:p>
            <a:r>
              <a:rPr lang="en-150" dirty="0"/>
              <a:t>-----------------------</a:t>
            </a:r>
          </a:p>
          <a:p>
            <a:r>
              <a:rPr lang="en-150" dirty="0"/>
              <a:t>ID_ADR: INT</a:t>
            </a:r>
          </a:p>
          <a:p>
            <a:r>
              <a:rPr lang="en-150" dirty="0"/>
              <a:t>NUME_CMP: STRING</a:t>
            </a:r>
          </a:p>
          <a:p>
            <a:r>
              <a:rPr lang="en-150" dirty="0"/>
              <a:t>ADRESA: STRING</a:t>
            </a:r>
          </a:p>
        </p:txBody>
      </p:sp>
      <p:cxnSp>
        <p:nvCxnSpPr>
          <p:cNvPr id="21" name="Conector drept cu săgeată 20">
            <a:extLst>
              <a:ext uri="{FF2B5EF4-FFF2-40B4-BE49-F238E27FC236}">
                <a16:creationId xmlns:a16="http://schemas.microsoft.com/office/drawing/2014/main" id="{696F76AA-2F79-8C4F-62F8-0B2A0C809543}"/>
              </a:ext>
            </a:extLst>
          </p:cNvPr>
          <p:cNvCxnSpPr>
            <a:cxnSpLocks/>
          </p:cNvCxnSpPr>
          <p:nvPr/>
        </p:nvCxnSpPr>
        <p:spPr>
          <a:xfrm flipH="1">
            <a:off x="8475133" y="3478831"/>
            <a:ext cx="6688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rept cu săgeată 24">
            <a:extLst>
              <a:ext uri="{FF2B5EF4-FFF2-40B4-BE49-F238E27FC236}">
                <a16:creationId xmlns:a16="http://schemas.microsoft.com/office/drawing/2014/main" id="{57C7613C-206D-CB80-1311-E6AED283E412}"/>
              </a:ext>
            </a:extLst>
          </p:cNvPr>
          <p:cNvCxnSpPr>
            <a:cxnSpLocks/>
            <a:stCxn id="17" idx="0"/>
            <a:endCxn id="12" idx="2"/>
          </p:cNvCxnSpPr>
          <p:nvPr/>
        </p:nvCxnSpPr>
        <p:spPr>
          <a:xfrm flipV="1">
            <a:off x="7075874" y="4206579"/>
            <a:ext cx="120793" cy="58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rept cu săgeată 27">
            <a:extLst>
              <a:ext uri="{FF2B5EF4-FFF2-40B4-BE49-F238E27FC236}">
                <a16:creationId xmlns:a16="http://schemas.microsoft.com/office/drawing/2014/main" id="{23C86F89-A2D9-F512-CDF5-529705D5386C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8551333" y="4950937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1903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3E2CFBB-A79A-D165-A73A-3EB3B5BB4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150" dirty="0"/>
              <a:t>USE CASE DIAGRAM</a:t>
            </a:r>
            <a:endParaRPr lang="ro-RO" dirty="0"/>
          </a:p>
        </p:txBody>
      </p:sp>
      <p:sp>
        <p:nvSpPr>
          <p:cNvPr id="3" name="Față zâmbitoare 2">
            <a:extLst>
              <a:ext uri="{FF2B5EF4-FFF2-40B4-BE49-F238E27FC236}">
                <a16:creationId xmlns:a16="http://schemas.microsoft.com/office/drawing/2014/main" id="{1C638D38-FDA3-24B0-B5AA-43653C0D5AB6}"/>
              </a:ext>
            </a:extLst>
          </p:cNvPr>
          <p:cNvSpPr/>
          <p:nvPr/>
        </p:nvSpPr>
        <p:spPr>
          <a:xfrm>
            <a:off x="846667" y="3234267"/>
            <a:ext cx="2184400" cy="2184400"/>
          </a:xfrm>
          <a:prstGeom prst="smileyFac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Față zâmbitoare 3">
            <a:extLst>
              <a:ext uri="{FF2B5EF4-FFF2-40B4-BE49-F238E27FC236}">
                <a16:creationId xmlns:a16="http://schemas.microsoft.com/office/drawing/2014/main" id="{49B4812F-F6E2-B7C7-1FA6-D51F75259D7C}"/>
              </a:ext>
            </a:extLst>
          </p:cNvPr>
          <p:cNvSpPr/>
          <p:nvPr/>
        </p:nvSpPr>
        <p:spPr>
          <a:xfrm>
            <a:off x="6263791" y="3234267"/>
            <a:ext cx="2184400" cy="2184400"/>
          </a:xfrm>
          <a:prstGeom prst="smileyFac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5" name="Dreptunghi: colțuri rotunjite 4">
            <a:extLst>
              <a:ext uri="{FF2B5EF4-FFF2-40B4-BE49-F238E27FC236}">
                <a16:creationId xmlns:a16="http://schemas.microsoft.com/office/drawing/2014/main" id="{D421FB19-6E87-E67B-0AC5-DB22D42DCC03}"/>
              </a:ext>
            </a:extLst>
          </p:cNvPr>
          <p:cNvSpPr/>
          <p:nvPr/>
        </p:nvSpPr>
        <p:spPr>
          <a:xfrm>
            <a:off x="3242734" y="2455333"/>
            <a:ext cx="2523066" cy="97366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150" dirty="0" err="1"/>
              <a:t>Modifica</a:t>
            </a:r>
            <a:r>
              <a:rPr lang="en-150" dirty="0"/>
              <a:t> </a:t>
            </a:r>
            <a:r>
              <a:rPr lang="en-150" dirty="0" err="1"/>
              <a:t>informatii</a:t>
            </a:r>
            <a:r>
              <a:rPr lang="en-150" dirty="0"/>
              <a:t> </a:t>
            </a:r>
            <a:r>
              <a:rPr lang="en-150" dirty="0" err="1"/>
              <a:t>produs</a:t>
            </a:r>
            <a:endParaRPr lang="ro-RO" dirty="0"/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440D77ED-E9F8-5079-A6DB-0AC418B37BB9}"/>
              </a:ext>
            </a:extLst>
          </p:cNvPr>
          <p:cNvSpPr/>
          <p:nvPr/>
        </p:nvSpPr>
        <p:spPr>
          <a:xfrm>
            <a:off x="3242734" y="3724147"/>
            <a:ext cx="2523066" cy="97366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150" dirty="0" err="1"/>
              <a:t>Sterge</a:t>
            </a:r>
            <a:r>
              <a:rPr lang="en-150" dirty="0"/>
              <a:t> </a:t>
            </a:r>
            <a:r>
              <a:rPr lang="en-150" dirty="0" err="1"/>
              <a:t>produs</a:t>
            </a:r>
            <a:endParaRPr lang="ro-RO" dirty="0"/>
          </a:p>
        </p:txBody>
      </p:sp>
      <p:sp>
        <p:nvSpPr>
          <p:cNvPr id="7" name="Dreptunghi: colțuri rotunjite 6">
            <a:extLst>
              <a:ext uri="{FF2B5EF4-FFF2-40B4-BE49-F238E27FC236}">
                <a16:creationId xmlns:a16="http://schemas.microsoft.com/office/drawing/2014/main" id="{30DC8A45-2243-A763-C86A-DCCA47F400DF}"/>
              </a:ext>
            </a:extLst>
          </p:cNvPr>
          <p:cNvSpPr/>
          <p:nvPr/>
        </p:nvSpPr>
        <p:spPr>
          <a:xfrm>
            <a:off x="3242734" y="5018361"/>
            <a:ext cx="2523066" cy="97366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150" dirty="0" err="1"/>
              <a:t>Creeaza</a:t>
            </a:r>
            <a:r>
              <a:rPr lang="en-150" dirty="0"/>
              <a:t> </a:t>
            </a:r>
            <a:r>
              <a:rPr lang="en-150" dirty="0" err="1"/>
              <a:t>produs</a:t>
            </a:r>
            <a:endParaRPr lang="ro-RO" dirty="0"/>
          </a:p>
        </p:txBody>
      </p:sp>
      <p:sp>
        <p:nvSpPr>
          <p:cNvPr id="8" name="Dreptunghi: colțuri rotunjite 7">
            <a:extLst>
              <a:ext uri="{FF2B5EF4-FFF2-40B4-BE49-F238E27FC236}">
                <a16:creationId xmlns:a16="http://schemas.microsoft.com/office/drawing/2014/main" id="{73B189C0-D625-9CDA-06F3-DED79A7EDC47}"/>
              </a:ext>
            </a:extLst>
          </p:cNvPr>
          <p:cNvSpPr/>
          <p:nvPr/>
        </p:nvSpPr>
        <p:spPr>
          <a:xfrm>
            <a:off x="8822267" y="2290233"/>
            <a:ext cx="2523066" cy="97366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150" dirty="0" err="1"/>
              <a:t>Vizualizeaza</a:t>
            </a:r>
            <a:r>
              <a:rPr lang="en-150" dirty="0"/>
              <a:t> </a:t>
            </a:r>
            <a:r>
              <a:rPr lang="en-150" dirty="0" err="1"/>
              <a:t>produs</a:t>
            </a:r>
            <a:endParaRPr lang="ro-RO" dirty="0"/>
          </a:p>
        </p:txBody>
      </p:sp>
      <p:sp>
        <p:nvSpPr>
          <p:cNvPr id="9" name="Dreptunghi: colțuri rotunjite 8">
            <a:extLst>
              <a:ext uri="{FF2B5EF4-FFF2-40B4-BE49-F238E27FC236}">
                <a16:creationId xmlns:a16="http://schemas.microsoft.com/office/drawing/2014/main" id="{51A7F2D9-0E80-CEF2-BD1C-100E9EA64E08}"/>
              </a:ext>
            </a:extLst>
          </p:cNvPr>
          <p:cNvSpPr/>
          <p:nvPr/>
        </p:nvSpPr>
        <p:spPr>
          <a:xfrm>
            <a:off x="8822267" y="3429000"/>
            <a:ext cx="2523066" cy="97366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150" dirty="0" err="1"/>
              <a:t>Comanda</a:t>
            </a:r>
            <a:r>
              <a:rPr lang="en-150" dirty="0"/>
              <a:t> </a:t>
            </a:r>
            <a:r>
              <a:rPr lang="en-150" dirty="0" err="1"/>
              <a:t>Produs</a:t>
            </a:r>
            <a:endParaRPr lang="ro-RO" dirty="0"/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F5C6FE85-39EB-F276-B4C1-7F7346D1CE63}"/>
              </a:ext>
            </a:extLst>
          </p:cNvPr>
          <p:cNvSpPr/>
          <p:nvPr/>
        </p:nvSpPr>
        <p:spPr>
          <a:xfrm>
            <a:off x="8822267" y="4567767"/>
            <a:ext cx="2523066" cy="97366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150" dirty="0" err="1"/>
              <a:t>Cauta</a:t>
            </a:r>
            <a:r>
              <a:rPr lang="en-150" dirty="0"/>
              <a:t> </a:t>
            </a:r>
            <a:r>
              <a:rPr lang="en-150" dirty="0" err="1"/>
              <a:t>produs</a:t>
            </a:r>
            <a:endParaRPr lang="ro-RO" dirty="0"/>
          </a:p>
        </p:txBody>
      </p:sp>
      <p:sp>
        <p:nvSpPr>
          <p:cNvPr id="11" name="Dreptunghi: colțuri rotunjite 10">
            <a:extLst>
              <a:ext uri="{FF2B5EF4-FFF2-40B4-BE49-F238E27FC236}">
                <a16:creationId xmlns:a16="http://schemas.microsoft.com/office/drawing/2014/main" id="{8A6AA367-6FEB-84F9-D326-80E5D34A2987}"/>
              </a:ext>
            </a:extLst>
          </p:cNvPr>
          <p:cNvSpPr/>
          <p:nvPr/>
        </p:nvSpPr>
        <p:spPr>
          <a:xfrm>
            <a:off x="8822267" y="5706534"/>
            <a:ext cx="2523066" cy="97366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150" dirty="0" err="1"/>
              <a:t>Vizualizeaza</a:t>
            </a:r>
            <a:r>
              <a:rPr lang="en-150" dirty="0"/>
              <a:t> </a:t>
            </a:r>
            <a:r>
              <a:rPr lang="en-150" dirty="0" err="1"/>
              <a:t>dupa</a:t>
            </a:r>
            <a:r>
              <a:rPr lang="en-150" dirty="0"/>
              <a:t> </a:t>
            </a:r>
            <a:r>
              <a:rPr lang="en-150" dirty="0" err="1"/>
              <a:t>categorie</a:t>
            </a:r>
            <a:endParaRPr lang="ro-RO" dirty="0"/>
          </a:p>
        </p:txBody>
      </p:sp>
      <p:sp>
        <p:nvSpPr>
          <p:cNvPr id="12" name="CasetăText 11">
            <a:extLst>
              <a:ext uri="{FF2B5EF4-FFF2-40B4-BE49-F238E27FC236}">
                <a16:creationId xmlns:a16="http://schemas.microsoft.com/office/drawing/2014/main" id="{F47E416D-27EF-02B7-1023-7DE8F26D169A}"/>
              </a:ext>
            </a:extLst>
          </p:cNvPr>
          <p:cNvSpPr txBox="1"/>
          <p:nvPr/>
        </p:nvSpPr>
        <p:spPr>
          <a:xfrm>
            <a:off x="1059011" y="2777066"/>
            <a:ext cx="164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150" dirty="0"/>
              <a:t>administrator</a:t>
            </a:r>
            <a:endParaRPr lang="ro-RO" dirty="0"/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DF9BBA28-2FDB-D3D9-3316-283B1B6B781D}"/>
              </a:ext>
            </a:extLst>
          </p:cNvPr>
          <p:cNvSpPr txBox="1"/>
          <p:nvPr/>
        </p:nvSpPr>
        <p:spPr>
          <a:xfrm>
            <a:off x="6895527" y="2777066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150" dirty="0"/>
              <a:t>client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900635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rectorial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TM02900722[[fn=Sală de ședințe (ion)]]</Template>
  <TotalTime>48</TotalTime>
  <Words>380</Words>
  <Application>Microsoft Office PowerPoint</Application>
  <PresentationFormat>Ecran lat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Directorial</vt:lpstr>
      <vt:lpstr>PROIECT Software pentru telecomunicatii Aplicatie vanzare dulciuri eCommerce</vt:lpstr>
      <vt:lpstr>CUPRINS</vt:lpstr>
      <vt:lpstr>Alegerea si descrierea modului de dezvoltare software </vt:lpstr>
      <vt:lpstr>Prezentare PowerPoint</vt:lpstr>
      <vt:lpstr>Desemnare si descriere roluri si responsabilitati in cadrul echipei </vt:lpstr>
      <vt:lpstr>Structura bazei de date </vt:lpstr>
      <vt:lpstr>Modelarea arhitecturii sistemului   - Diagrama de clasa  </vt:lpstr>
      <vt:lpstr>USE CASE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Nechifor Cristina Claudia</dc:creator>
  <cp:lastModifiedBy>Nechifor Cristina Claudia</cp:lastModifiedBy>
  <cp:revision>2</cp:revision>
  <dcterms:created xsi:type="dcterms:W3CDTF">2025-12-02T19:28:27Z</dcterms:created>
  <dcterms:modified xsi:type="dcterms:W3CDTF">2025-12-02T20:19:15Z</dcterms:modified>
</cp:coreProperties>
</file>